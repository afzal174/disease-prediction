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handoutMasterIdLst>
    <p:handoutMasterId r:id="rId25"/>
  </p:handoutMasterIdLst>
  <p:sldIdLst>
    <p:sldId id="275" r:id="rId2"/>
    <p:sldId id="388" r:id="rId3"/>
    <p:sldId id="390" r:id="rId4"/>
    <p:sldId id="391" r:id="rId5"/>
    <p:sldId id="385" r:id="rId6"/>
    <p:sldId id="394" r:id="rId7"/>
    <p:sldId id="396" r:id="rId8"/>
    <p:sldId id="395" r:id="rId9"/>
    <p:sldId id="279" r:id="rId10"/>
    <p:sldId id="397" r:id="rId11"/>
    <p:sldId id="398" r:id="rId12"/>
    <p:sldId id="399" r:id="rId13"/>
    <p:sldId id="400" r:id="rId14"/>
    <p:sldId id="401" r:id="rId15"/>
    <p:sldId id="402" r:id="rId16"/>
    <p:sldId id="403" r:id="rId17"/>
    <p:sldId id="404" r:id="rId18"/>
    <p:sldId id="405" r:id="rId19"/>
    <p:sldId id="370" r:id="rId20"/>
    <p:sldId id="387" r:id="rId21"/>
    <p:sldId id="366" r:id="rId22"/>
    <p:sldId id="30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p:cViewPr varScale="1">
        <p:scale>
          <a:sx n="126" d="100"/>
          <a:sy n="126" d="100"/>
        </p:scale>
        <p:origin x="1524"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4/26/2025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4/26/2025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21</a:t>
            </a:fld>
            <a:endParaRPr lang="en-US"/>
          </a:p>
        </p:txBody>
      </p:sp>
    </p:spTree>
    <p:extLst>
      <p:ext uri="{BB962C8B-B14F-4D97-AF65-F5344CB8AC3E}">
        <p14:creationId xmlns:p14="http://schemas.microsoft.com/office/powerpoint/2010/main" val="201504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26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26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26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26 April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26 April 2025</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26 April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26 April 2025</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26 April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26 April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26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26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26 April 2025</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26 April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1293627" y="3512438"/>
            <a:ext cx="6709143" cy="885409"/>
          </a:xfrm>
        </p:spPr>
        <p:txBody>
          <a:bodyPr>
            <a:normAutofit/>
          </a:bodyPr>
          <a:lstStyle/>
          <a:p>
            <a:r>
              <a:rPr lang="en-US" sz="4000" dirty="0">
                <a:solidFill>
                  <a:schemeClr val="tx1"/>
                </a:solidFill>
                <a:latin typeface="Arial" pitchFamily="34" charset="0"/>
                <a:cs typeface="Arial" pitchFamily="34" charset="0"/>
              </a:rPr>
              <a:t>DISEASE PREDICTION</a:t>
            </a: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26 April 2025</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pPr/>
              <a:t>1</a:t>
            </a:fld>
            <a:endParaRPr lang="en-US"/>
          </a:p>
        </p:txBody>
      </p:sp>
      <p:pic>
        <p:nvPicPr>
          <p:cNvPr id="3" name="image2.jpeg">
            <a:extLst>
              <a:ext uri="{FF2B5EF4-FFF2-40B4-BE49-F238E27FC236}">
                <a16:creationId xmlns:a16="http://schemas.microsoft.com/office/drawing/2014/main" id="{D20B592D-C5BA-5B8C-EB42-80FBD0A91D48}"/>
              </a:ext>
            </a:extLst>
          </p:cNvPr>
          <p:cNvPicPr/>
          <p:nvPr/>
        </p:nvPicPr>
        <p:blipFill>
          <a:blip r:embed="rId3" cstate="print"/>
          <a:stretch>
            <a:fillRect/>
          </a:stretch>
        </p:blipFill>
        <p:spPr>
          <a:xfrm>
            <a:off x="304800" y="136525"/>
            <a:ext cx="8610600" cy="1696686"/>
          </a:xfrm>
          <a:prstGeom prst="rect">
            <a:avLst/>
          </a:prstGeom>
          <a:ln>
            <a:solidFill>
              <a:srgbClr val="002060"/>
            </a:solidFill>
          </a:ln>
        </p:spPr>
      </p:pic>
      <p:sp>
        <p:nvSpPr>
          <p:cNvPr id="14" name="TextBox 13">
            <a:extLst>
              <a:ext uri="{FF2B5EF4-FFF2-40B4-BE49-F238E27FC236}">
                <a16:creationId xmlns:a16="http://schemas.microsoft.com/office/drawing/2014/main" id="{41C8031F-DC64-6DA7-5E1D-856D8119A1D3}"/>
              </a:ext>
            </a:extLst>
          </p:cNvPr>
          <p:cNvSpPr txBox="1"/>
          <p:nvPr/>
        </p:nvSpPr>
        <p:spPr>
          <a:xfrm>
            <a:off x="304800" y="2246127"/>
            <a:ext cx="8610599" cy="1015663"/>
          </a:xfrm>
          <a:prstGeom prst="rect">
            <a:avLst/>
          </a:prstGeom>
          <a:noFill/>
        </p:spPr>
        <p:txBody>
          <a:bodyPr wrap="square">
            <a:spAutoFit/>
          </a:bodyPr>
          <a:lstStyle/>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sz="2000" b="1"/>
              <a:t>INTERDISCIPLINARY PROJECT</a:t>
            </a:r>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0" y="4901084"/>
            <a:ext cx="8305799" cy="1423515"/>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                                                  GUIDE</a:t>
            </a:r>
          </a:p>
          <a:p>
            <a:pPr algn="l"/>
            <a:r>
              <a:rPr lang="en-US" sz="2000" b="1" dirty="0">
                <a:solidFill>
                  <a:schemeClr val="tx1"/>
                </a:solidFill>
              </a:rPr>
              <a:t>MOHAMED AFZAL A ,  4211078</a:t>
            </a:r>
            <a:r>
              <a:rPr lang="en-US" sz="1800" b="1" spc="-25" dirty="0">
                <a:solidFill>
                  <a:schemeClr val="tx1"/>
                </a:solidFill>
                <a:latin typeface="Arial" panose="020B0604020202020204" pitchFamily="34" charset="0"/>
              </a:rPr>
              <a:t>9                               </a:t>
            </a:r>
            <a:r>
              <a:rPr lang="en-US" sz="1800" b="1" spc="-25" dirty="0" err="1">
                <a:solidFill>
                  <a:schemeClr val="tx1"/>
                </a:solidFill>
                <a:effectLst/>
                <a:latin typeface="Arial" panose="020B0604020202020204" pitchFamily="34" charset="0"/>
                <a:ea typeface="Arial MT"/>
              </a:rPr>
              <a:t>Ms.TRIVENI</a:t>
            </a:r>
            <a:r>
              <a:rPr lang="en-US" sz="1800" b="1" dirty="0">
                <a:solidFill>
                  <a:schemeClr val="tx1"/>
                </a:solidFill>
                <a:effectLst/>
                <a:latin typeface="Arial" panose="020B0604020202020204" pitchFamily="34" charset="0"/>
                <a:ea typeface="Arial MT"/>
              </a:rPr>
              <a:t>, MSc.,(</a:t>
            </a:r>
            <a:r>
              <a:rPr lang="en-US" sz="1800" b="1" dirty="0" err="1">
                <a:solidFill>
                  <a:schemeClr val="tx1"/>
                </a:solidFill>
                <a:effectLst/>
                <a:latin typeface="Arial" panose="020B0604020202020204" pitchFamily="34" charset="0"/>
                <a:ea typeface="Arial MT"/>
              </a:rPr>
              <a:t>Ph.D</a:t>
            </a:r>
            <a:r>
              <a:rPr lang="en-US" sz="1800" b="1" dirty="0">
                <a:solidFill>
                  <a:schemeClr val="tx1"/>
                </a:solidFill>
                <a:effectLst/>
                <a:latin typeface="Arial" panose="020B0604020202020204" pitchFamily="34" charset="0"/>
                <a:ea typeface="Arial MT"/>
              </a:rPr>
              <a:t>)</a:t>
            </a:r>
          </a:p>
          <a:p>
            <a:pPr algn="l"/>
            <a:r>
              <a:rPr lang="en-US" sz="1800" b="1" dirty="0">
                <a:solidFill>
                  <a:schemeClr val="tx1"/>
                </a:solidFill>
                <a:latin typeface="Arial" panose="020B0604020202020204" pitchFamily="34" charset="0"/>
              </a:rPr>
              <a:t>                                                                                  ASSISTANT PROFESSOR</a:t>
            </a:r>
            <a:endParaRPr lang="en-GB" sz="2000"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a:normAutofit fontScale="92500" lnSpcReduction="20000"/>
          </a:bodyPr>
          <a:lstStyle/>
          <a:p>
            <a:r>
              <a:rPr lang="en-US" dirty="0"/>
              <a:t>Certificate</a:t>
            </a:r>
          </a:p>
          <a:p>
            <a:r>
              <a:rPr lang="en-US" dirty="0"/>
              <a:t>Introduction</a:t>
            </a:r>
          </a:p>
          <a:p>
            <a:r>
              <a:rPr lang="en-US" dirty="0"/>
              <a:t>Abstract</a:t>
            </a:r>
          </a:p>
          <a:p>
            <a:r>
              <a:rPr lang="en-US" dirty="0"/>
              <a:t>Objective</a:t>
            </a:r>
          </a:p>
          <a:p>
            <a:r>
              <a:rPr lang="en-US" dirty="0"/>
              <a:t>System Architecture / Ideation Map</a:t>
            </a:r>
          </a:p>
          <a:p>
            <a:r>
              <a:rPr lang="en-US" dirty="0"/>
              <a:t>Module Implementation</a:t>
            </a:r>
          </a:p>
          <a:p>
            <a:r>
              <a:rPr lang="en-US" dirty="0"/>
              <a:t>Results and Discussions</a:t>
            </a:r>
          </a:p>
          <a:p>
            <a:r>
              <a:rPr lang="en-US" dirty="0"/>
              <a:t>Conclusion</a:t>
            </a:r>
          </a:p>
          <a:p>
            <a:r>
              <a:rPr lang="en-US" dirty="0"/>
              <a:t>References</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26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a:t>
            </a:fld>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lang="en-US" sz="3600" dirty="0"/>
              <a:t>COURSE CERTIFICATE</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fld id="{7B28076C-CE04-4A00-BFAA-A90EA8355859}" type="slidenum">
              <a:rPr lang="en-US" smtClean="0"/>
              <a:pPr/>
              <a:t>3</a:t>
            </a:fld>
            <a:endParaRPr lang="en-US" dirty="0"/>
          </a:p>
        </p:txBody>
      </p:sp>
      <p:pic>
        <p:nvPicPr>
          <p:cNvPr id="9" name="Content Placeholder 8">
            <a:extLst>
              <a:ext uri="{FF2B5EF4-FFF2-40B4-BE49-F238E27FC236}">
                <a16:creationId xmlns:a16="http://schemas.microsoft.com/office/drawing/2014/main" id="{6AD01BAF-106B-11D8-7E55-792163012F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9222" y="1600200"/>
            <a:ext cx="6385555" cy="4525963"/>
          </a:xfrm>
        </p:spPr>
      </p:pic>
    </p:spTree>
    <p:extLst>
      <p:ext uri="{BB962C8B-B14F-4D97-AF65-F5344CB8AC3E}">
        <p14:creationId xmlns:p14="http://schemas.microsoft.com/office/powerpoint/2010/main" val="4270359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lang="en-US" sz="3600" dirty="0"/>
              <a:t>INTRODUCTION</a:t>
            </a:r>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fld id="{7B28076C-CE04-4A00-BFAA-A90EA8355859}" type="slidenum">
              <a:rPr lang="en-US" smtClean="0"/>
              <a:pPr/>
              <a:t>4</a:t>
            </a:fld>
            <a:endParaRPr lang="en-US" dirty="0"/>
          </a:p>
        </p:txBody>
      </p:sp>
      <p:sp>
        <p:nvSpPr>
          <p:cNvPr id="4" name="Content Placeholder 3"/>
          <p:cNvSpPr>
            <a:spLocks noGrp="1"/>
          </p:cNvSpPr>
          <p:nvPr>
            <p:ph idx="1"/>
          </p:nvPr>
        </p:nvSpPr>
        <p:spPr>
          <a:xfrm>
            <a:off x="454742" y="1371600"/>
            <a:ext cx="8229600" cy="4525963"/>
          </a:xfrm>
        </p:spPr>
        <p:txBody>
          <a:bodyPr>
            <a:normAutofit/>
          </a:bodyPr>
          <a:lstStyle/>
          <a:p>
            <a:pPr marL="0" indent="0" algn="just">
              <a:lnSpc>
                <a:spcPct val="150000"/>
              </a:lnSpc>
              <a:buNone/>
            </a:pPr>
            <a:r>
              <a:rPr lang="en-US" sz="1600" dirty="0">
                <a:latin typeface="Arial" panose="020B0604020202020204" pitchFamily="34" charset="0"/>
                <a:cs typeface="Arial" panose="020B0604020202020204" pitchFamily="34" charset="0"/>
              </a:rPr>
              <a:t>The healthcare industry is increasingly leveraging machine learning to improve disease prediction and diagnosis. This project focuses on developing a web-based application using Stream lit in Python to predict multiple diseases, including Diabetes, Heart Disease, and Parkinson’s, while also offering a BMI tracking feature. By integrating machine learning models into a user-friendly interface, the application enables users to input their medical data and receive quick and accurate predictions. The platform was developed using the Spyder IDE, ensuring a clean and efficient development process. Key features of the application include the ability to print results for reference and clear cache to manage stored data effectively. This combination of predictive analysis and health tracking supports early diagnosis and health monitoring, making it a valuable tool in preventive healthcare. The project highlights the potential of AI in building intelligent systems that empower users to take proactive steps in managing their health.</a:t>
            </a:r>
          </a:p>
        </p:txBody>
      </p:sp>
    </p:spTree>
    <p:extLst>
      <p:ext uri="{BB962C8B-B14F-4D97-AF65-F5344CB8AC3E}">
        <p14:creationId xmlns:p14="http://schemas.microsoft.com/office/powerpoint/2010/main" val="1073926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lang="en-US" sz="3600" dirty="0"/>
              <a:t>ABSTRACT</a:t>
            </a:r>
          </a:p>
        </p:txBody>
      </p:sp>
      <p:sp>
        <p:nvSpPr>
          <p:cNvPr id="4" name="Date Placeholder 3">
            <a:extLst>
              <a:ext uri="{FF2B5EF4-FFF2-40B4-BE49-F238E27FC236}">
                <a16:creationId xmlns:a16="http://schemas.microsoft.com/office/drawing/2014/main" id="{2B501FE4-FDDC-C618-352A-C144A5BA9496}"/>
              </a:ext>
            </a:extLst>
          </p:cNvPr>
          <p:cNvSpPr>
            <a:spLocks noGrp="1"/>
          </p:cNvSpPr>
          <p:nvPr>
            <p:ph type="dt" sz="half" idx="10"/>
          </p:nvPr>
        </p:nvSpPr>
        <p:spPr/>
        <p:txBody>
          <a:bodyPr/>
          <a:lstStyle/>
          <a:p>
            <a:fld id="{123906DF-F5B0-46D6-99D1-A7FBFB962A6E}" type="datetime3">
              <a:rPr lang="en-US" smtClean="0"/>
              <a:t>26 April 2025</a:t>
            </a:fld>
            <a:endParaRPr lang="en-US"/>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r>
              <a:rPr lang="en-US" dirty="0"/>
              <a:t>School of Computing - CSE</a:t>
            </a:r>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fld id="{7B28076C-CE04-4A00-BFAA-A90EA8355859}" type="slidenum">
              <a:rPr lang="en-US" smtClean="0"/>
              <a:pPr/>
              <a:t>5</a:t>
            </a:fld>
            <a:endParaRPr lang="en-US" dirty="0"/>
          </a:p>
        </p:txBody>
      </p:sp>
      <p:sp>
        <p:nvSpPr>
          <p:cNvPr id="7" name="Content Placeholder 6"/>
          <p:cNvSpPr>
            <a:spLocks noGrp="1"/>
          </p:cNvSpPr>
          <p:nvPr>
            <p:ph idx="1"/>
          </p:nvPr>
        </p:nvSpPr>
        <p:spPr/>
        <p:txBody>
          <a:bodyPr>
            <a:normAutofit/>
          </a:bodyPr>
          <a:lstStyle/>
          <a:p>
            <a:pPr marL="0" indent="0" algn="just">
              <a:lnSpc>
                <a:spcPct val="150000"/>
              </a:lnSpc>
              <a:buNone/>
            </a:pPr>
            <a:r>
              <a:rPr lang="en-US" sz="1600" dirty="0">
                <a:latin typeface="Arial" panose="020B0604020202020204" pitchFamily="34" charset="0"/>
                <a:cs typeface="Arial" panose="020B0604020202020204" pitchFamily="34" charset="0"/>
              </a:rPr>
              <a:t>This project leverages machine learning to build a Multi Disease Prediction System that allows users to input health parameters and receive predictions about potential diseases. It also features a BMI tracker to support fitness monitoring. The application delivers real-time analysis through an intuitive and interactive Stream lit-based interface.</a:t>
            </a:r>
          </a:p>
          <a:p>
            <a:pPr algn="just">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Predicts multiple diseases based on user health inputs</a:t>
            </a:r>
          </a:p>
          <a:p>
            <a:pPr algn="just">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BMI tracker helps monitor overall fitness and health</a:t>
            </a:r>
          </a:p>
          <a:p>
            <a:pPr algn="just">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Real-time results via a responsive, user-friendly interface</a:t>
            </a:r>
          </a:p>
        </p:txBody>
      </p:sp>
      <p:sp>
        <p:nvSpPr>
          <p:cNvPr id="9" name="TextBox 8">
            <a:extLst>
              <a:ext uri="{FF2B5EF4-FFF2-40B4-BE49-F238E27FC236}">
                <a16:creationId xmlns:a16="http://schemas.microsoft.com/office/drawing/2014/main" id="{76C5BF64-F594-A66A-8265-6434C4AC0537}"/>
              </a:ext>
            </a:extLst>
          </p:cNvPr>
          <p:cNvSpPr txBox="1"/>
          <p:nvPr/>
        </p:nvSpPr>
        <p:spPr>
          <a:xfrm>
            <a:off x="11353800" y="2057400"/>
            <a:ext cx="184731" cy="369332"/>
          </a:xfrm>
          <a:prstGeom prst="rect">
            <a:avLst/>
          </a:prstGeom>
          <a:noFill/>
        </p:spPr>
        <p:txBody>
          <a:bodyPr wrap="none" rtlCol="0">
            <a:spAutoFit/>
          </a:bodyPr>
          <a:lstStyle/>
          <a:p>
            <a:endParaRPr lang="en-IN" dirty="0"/>
          </a:p>
        </p:txBody>
      </p:sp>
      <p:sp>
        <p:nvSpPr>
          <p:cNvPr id="19" name="TextBox 18">
            <a:extLst>
              <a:ext uri="{FF2B5EF4-FFF2-40B4-BE49-F238E27FC236}">
                <a16:creationId xmlns:a16="http://schemas.microsoft.com/office/drawing/2014/main" id="{CC559911-6FD7-2815-76AF-3926EE67C74A}"/>
              </a:ext>
            </a:extLst>
          </p:cNvPr>
          <p:cNvSpPr txBox="1"/>
          <p:nvPr/>
        </p:nvSpPr>
        <p:spPr>
          <a:xfrm>
            <a:off x="5314335" y="2974258"/>
            <a:ext cx="914400" cy="9144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559617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lang="en-US" sz="3600" dirty="0"/>
              <a:t>OBJECTIVE</a:t>
            </a:r>
          </a:p>
        </p:txBody>
      </p:sp>
      <p:sp>
        <p:nvSpPr>
          <p:cNvPr id="4" name="Date Placeholder 3">
            <a:extLst>
              <a:ext uri="{FF2B5EF4-FFF2-40B4-BE49-F238E27FC236}">
                <a16:creationId xmlns:a16="http://schemas.microsoft.com/office/drawing/2014/main" id="{2B501FE4-FDDC-C618-352A-C144A5BA9496}"/>
              </a:ext>
            </a:extLst>
          </p:cNvPr>
          <p:cNvSpPr>
            <a:spLocks noGrp="1"/>
          </p:cNvSpPr>
          <p:nvPr>
            <p:ph type="dt" sz="half" idx="10"/>
          </p:nvPr>
        </p:nvSpPr>
        <p:spPr/>
        <p:txBody>
          <a:bodyPr/>
          <a:lstStyle/>
          <a:p>
            <a:fld id="{123906DF-F5B0-46D6-99D1-A7FBFB962A6E}" type="datetime3">
              <a:rPr lang="en-US" smtClean="0"/>
              <a:t>26 April 2025</a:t>
            </a:fld>
            <a:endParaRPr lang="en-US"/>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r>
              <a:rPr lang="en-US" dirty="0"/>
              <a:t>School of Computing - CSE</a:t>
            </a:r>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fld id="{7B28076C-CE04-4A00-BFAA-A90EA8355859}" type="slidenum">
              <a:rPr lang="en-US" smtClean="0"/>
              <a:pPr/>
              <a:t>6</a:t>
            </a:fld>
            <a:endParaRPr lang="en-US" dirty="0"/>
          </a:p>
        </p:txBody>
      </p:sp>
      <p:sp>
        <p:nvSpPr>
          <p:cNvPr id="7" name="Content Placeholder 6"/>
          <p:cNvSpPr>
            <a:spLocks noGrp="1"/>
          </p:cNvSpPr>
          <p:nvPr>
            <p:ph idx="1"/>
          </p:nvPr>
        </p:nvSpPr>
        <p:spPr/>
        <p:txBody>
          <a:bodyPr>
            <a:normAutofit/>
          </a:bodyPr>
          <a:lstStyle/>
          <a:p>
            <a:pPr marL="0" indent="0" algn="just">
              <a:lnSpc>
                <a:spcPct val="150000"/>
              </a:lnSpc>
              <a:buNone/>
            </a:pPr>
            <a:r>
              <a:rPr lang="en-US" sz="1600" dirty="0">
                <a:latin typeface="Arial" panose="020B0604020202020204" pitchFamily="34" charset="0"/>
                <a:cs typeface="Arial" panose="020B0604020202020204" pitchFamily="34" charset="0"/>
              </a:rPr>
              <a:t>This project aims to build a web-based machine learning application that predicts multiple diseases from user-provided data. It also includes a BMI tracker for enhanced health monitoring. The system focuses on delivering real-time results through an interactive and user-friendly interface to ensure a smooth experience for users.</a:t>
            </a:r>
          </a:p>
          <a:p>
            <a:pPr algn="just">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Predicts various diseases using machine learning algorithms based on user input</a:t>
            </a:r>
          </a:p>
          <a:p>
            <a:pPr algn="just">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Integrates a BMI tracker to help users monitor their health and fitness levels</a:t>
            </a:r>
          </a:p>
          <a:p>
            <a:pPr algn="just">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Delivers fast, real-time predictions through a clean and interactive web interface</a:t>
            </a:r>
          </a:p>
        </p:txBody>
      </p:sp>
    </p:spTree>
    <p:extLst>
      <p:ext uri="{BB962C8B-B14F-4D97-AF65-F5344CB8AC3E}">
        <p14:creationId xmlns:p14="http://schemas.microsoft.com/office/powerpoint/2010/main" val="2541429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lang="en-US" sz="3600" dirty="0"/>
              <a:t>LITERATURE SURVEY</a:t>
            </a:r>
          </a:p>
        </p:txBody>
      </p:sp>
      <p:sp>
        <p:nvSpPr>
          <p:cNvPr id="4" name="Date Placeholder 3">
            <a:extLst>
              <a:ext uri="{FF2B5EF4-FFF2-40B4-BE49-F238E27FC236}">
                <a16:creationId xmlns:a16="http://schemas.microsoft.com/office/drawing/2014/main" id="{2B501FE4-FDDC-C618-352A-C144A5BA9496}"/>
              </a:ext>
            </a:extLst>
          </p:cNvPr>
          <p:cNvSpPr>
            <a:spLocks noGrp="1"/>
          </p:cNvSpPr>
          <p:nvPr>
            <p:ph type="dt" sz="half" idx="10"/>
          </p:nvPr>
        </p:nvSpPr>
        <p:spPr/>
        <p:txBody>
          <a:bodyPr/>
          <a:lstStyle/>
          <a:p>
            <a:fld id="{123906DF-F5B0-46D6-99D1-A7FBFB962A6E}" type="datetime3">
              <a:rPr lang="en-US" smtClean="0"/>
              <a:t>26 April 2025</a:t>
            </a:fld>
            <a:endParaRPr lang="en-US"/>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r>
              <a:rPr lang="en-US" dirty="0"/>
              <a:t>School of Computing - CSE</a:t>
            </a:r>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fld id="{7B28076C-CE04-4A00-BFAA-A90EA8355859}" type="slidenum">
              <a:rPr lang="en-US" smtClean="0"/>
              <a:pPr/>
              <a:t>7</a:t>
            </a:fld>
            <a:endParaRPr lang="en-US" dirty="0"/>
          </a:p>
        </p:txBody>
      </p:sp>
      <p:pic>
        <p:nvPicPr>
          <p:cNvPr id="10" name="Content Placeholder 9">
            <a:extLst>
              <a:ext uri="{FF2B5EF4-FFF2-40B4-BE49-F238E27FC236}">
                <a16:creationId xmlns:a16="http://schemas.microsoft.com/office/drawing/2014/main" id="{B797345D-BD3D-60BF-1D08-662263C407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965325"/>
            <a:ext cx="8229600" cy="3713067"/>
          </a:xfrm>
        </p:spPr>
      </p:pic>
    </p:spTree>
    <p:extLst>
      <p:ext uri="{BB962C8B-B14F-4D97-AF65-F5344CB8AC3E}">
        <p14:creationId xmlns:p14="http://schemas.microsoft.com/office/powerpoint/2010/main" val="2767768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lang="en-US" sz="3600" dirty="0"/>
              <a:t>SYSTEM ARCHITECTURE / IDEATION MAP</a:t>
            </a:r>
          </a:p>
        </p:txBody>
      </p:sp>
      <p:sp>
        <p:nvSpPr>
          <p:cNvPr id="4" name="Date Placeholder 3">
            <a:extLst>
              <a:ext uri="{FF2B5EF4-FFF2-40B4-BE49-F238E27FC236}">
                <a16:creationId xmlns:a16="http://schemas.microsoft.com/office/drawing/2014/main" id="{2B501FE4-FDDC-C618-352A-C144A5BA9496}"/>
              </a:ext>
            </a:extLst>
          </p:cNvPr>
          <p:cNvSpPr>
            <a:spLocks noGrp="1"/>
          </p:cNvSpPr>
          <p:nvPr>
            <p:ph type="dt" sz="half" idx="10"/>
          </p:nvPr>
        </p:nvSpPr>
        <p:spPr/>
        <p:txBody>
          <a:bodyPr/>
          <a:lstStyle/>
          <a:p>
            <a:fld id="{123906DF-F5B0-46D6-99D1-A7FBFB962A6E}" type="datetime3">
              <a:rPr lang="en-US" smtClean="0"/>
              <a:t>26 April 2025</a:t>
            </a:fld>
            <a:endParaRPr lang="en-US"/>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r>
              <a:rPr lang="en-US" dirty="0"/>
              <a:t>School of Computing - CSE</a:t>
            </a:r>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fld id="{7B28076C-CE04-4A00-BFAA-A90EA8355859}" type="slidenum">
              <a:rPr lang="en-US" smtClean="0"/>
              <a:pPr/>
              <a:t>8</a:t>
            </a:fld>
            <a:endParaRPr lang="en-US" dirty="0"/>
          </a:p>
        </p:txBody>
      </p:sp>
      <p:pic>
        <p:nvPicPr>
          <p:cNvPr id="14" name="Content Placeholder 13">
            <a:extLst>
              <a:ext uri="{FF2B5EF4-FFF2-40B4-BE49-F238E27FC236}">
                <a16:creationId xmlns:a16="http://schemas.microsoft.com/office/drawing/2014/main" id="{6CF570D9-FEED-B09C-F4E6-CCD77025DE65}"/>
              </a:ext>
            </a:extLst>
          </p:cNvPr>
          <p:cNvPicPr>
            <a:picLocks noGrp="1" noChangeAspect="1"/>
          </p:cNvPicPr>
          <p:nvPr>
            <p:ph idx="1"/>
          </p:nvPr>
        </p:nvPicPr>
        <p:blipFill>
          <a:blip r:embed="rId2"/>
          <a:stretch>
            <a:fillRect/>
          </a:stretch>
        </p:blipFill>
        <p:spPr>
          <a:xfrm>
            <a:off x="1177528" y="1600200"/>
            <a:ext cx="6788944" cy="4525963"/>
          </a:xfrm>
        </p:spPr>
      </p:pic>
    </p:spTree>
    <p:extLst>
      <p:ext uri="{BB962C8B-B14F-4D97-AF65-F5344CB8AC3E}">
        <p14:creationId xmlns:p14="http://schemas.microsoft.com/office/powerpoint/2010/main" val="2011934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95300" y="381000"/>
            <a:ext cx="8229600" cy="655638"/>
          </a:xfrm>
        </p:spPr>
        <p:txBody>
          <a:bodyPr>
            <a:normAutofit/>
          </a:bodyPr>
          <a:lstStyle/>
          <a:p>
            <a:r>
              <a:rPr lang="en-US" sz="3600" dirty="0"/>
              <a:t>MODULE IMPLEMENTATION</a:t>
            </a:r>
          </a:p>
        </p:txBody>
      </p:sp>
      <p:sp>
        <p:nvSpPr>
          <p:cNvPr id="7" name="Date Placeholder 6"/>
          <p:cNvSpPr>
            <a:spLocks noGrp="1"/>
          </p:cNvSpPr>
          <p:nvPr>
            <p:ph type="dt" sz="half" idx="10"/>
          </p:nvPr>
        </p:nvSpPr>
        <p:spPr/>
        <p:txBody>
          <a:bodyPr/>
          <a:lstStyle/>
          <a:p>
            <a:fld id="{050741AE-4684-4D5C-854F-1AB768A2C094}" type="datetime3">
              <a:rPr lang="en-US" smtClean="0"/>
              <a:t>26 April 2025</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9</a:t>
            </a:fld>
            <a:endParaRPr lang="en-US"/>
          </a:p>
        </p:txBody>
      </p:sp>
      <p:sp>
        <p:nvSpPr>
          <p:cNvPr id="2" name="Content Placeholder 1"/>
          <p:cNvSpPr>
            <a:spLocks noGrp="1"/>
          </p:cNvSpPr>
          <p:nvPr>
            <p:ph idx="1"/>
          </p:nvPr>
        </p:nvSpPr>
        <p:spPr>
          <a:xfrm>
            <a:off x="457200" y="1399645"/>
            <a:ext cx="8229600" cy="4525963"/>
          </a:xfrm>
        </p:spPr>
        <p:txBody>
          <a:bodyPr>
            <a:noAutofit/>
          </a:bodyPr>
          <a:lstStyle/>
          <a:p>
            <a:pPr marL="0" indent="0">
              <a:lnSpc>
                <a:spcPct val="150000"/>
              </a:lnSpc>
              <a:buNone/>
            </a:pPr>
            <a:r>
              <a:rPr lang="en-US" sz="1800" b="1" dirty="0">
                <a:latin typeface="Arial" panose="020B0604020202020204" pitchFamily="34" charset="0"/>
                <a:cs typeface="Arial" panose="020B0604020202020204" pitchFamily="34" charset="0"/>
              </a:rPr>
              <a:t>MODULE 1</a:t>
            </a:r>
            <a:r>
              <a:rPr lang="en-US" sz="1800" dirty="0">
                <a:latin typeface="Arial" panose="020B0604020202020204" pitchFamily="34" charset="0"/>
                <a:cs typeface="Arial" panose="020B0604020202020204" pitchFamily="34" charset="0"/>
              </a:rPr>
              <a:t>:</a:t>
            </a:r>
            <a:r>
              <a:rPr lang="en-IN" sz="1800" b="1" dirty="0">
                <a:latin typeface="Arial" panose="020B0604020202020204" pitchFamily="34" charset="0"/>
                <a:cs typeface="Arial" panose="020B0604020202020204" pitchFamily="34" charset="0"/>
              </a:rPr>
              <a:t>Data Collection &amp; Preprocessing</a:t>
            </a:r>
          </a:p>
          <a:p>
            <a:pPr marL="0" indent="0">
              <a:lnSpc>
                <a:spcPct val="150000"/>
              </a:lnSpc>
              <a:buNone/>
            </a:pPr>
            <a:r>
              <a:rPr lang="en-US" sz="1600" dirty="0">
                <a:latin typeface="Arial" panose="020B0604020202020204" pitchFamily="34" charset="0"/>
                <a:cs typeface="Arial" panose="020B0604020202020204" pitchFamily="34" charset="0"/>
              </a:rPr>
              <a:t>This module focuses on gathering datasets related to diabetes, heart disease, and Parkinson’s disease. Proper preprocessing of the data is essential to ensure the model's accuracy. Data is cleaned, normalized, and formatted for efficient model training.</a:t>
            </a:r>
            <a:endParaRPr lang="en-IN" sz="1600"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Collects datasets for diabetes, heart disease, and Parkinson’s</a:t>
            </a:r>
          </a:p>
          <a:p>
            <a:pPr>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Performs data cleaning, normalization, and transformation</a:t>
            </a:r>
          </a:p>
          <a:p>
            <a:pPr>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Ensures data quality for reliable model performance</a:t>
            </a:r>
          </a:p>
        </p:txBody>
      </p:sp>
    </p:spTree>
    <p:extLst>
      <p:ext uri="{BB962C8B-B14F-4D97-AF65-F5344CB8AC3E}">
        <p14:creationId xmlns:p14="http://schemas.microsoft.com/office/powerpoint/2010/main" val="3185972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EB3A2-1AB6-0CB3-A7DD-FDA192B1AC54}"/>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C51607A1-1F9B-80BD-4356-5639CDCBB4F2}"/>
              </a:ext>
            </a:extLst>
          </p:cNvPr>
          <p:cNvSpPr>
            <a:spLocks noGrp="1"/>
          </p:cNvSpPr>
          <p:nvPr>
            <p:ph type="title"/>
          </p:nvPr>
        </p:nvSpPr>
        <p:spPr>
          <a:xfrm>
            <a:off x="495300" y="381000"/>
            <a:ext cx="8229600" cy="655638"/>
          </a:xfrm>
        </p:spPr>
        <p:txBody>
          <a:bodyPr>
            <a:normAutofit/>
          </a:bodyPr>
          <a:lstStyle/>
          <a:p>
            <a:r>
              <a:rPr lang="en-US" sz="3600" dirty="0"/>
              <a:t>MODULE IMPLEMENTATION</a:t>
            </a:r>
          </a:p>
        </p:txBody>
      </p:sp>
      <p:sp>
        <p:nvSpPr>
          <p:cNvPr id="7" name="Date Placeholder 6">
            <a:extLst>
              <a:ext uri="{FF2B5EF4-FFF2-40B4-BE49-F238E27FC236}">
                <a16:creationId xmlns:a16="http://schemas.microsoft.com/office/drawing/2014/main" id="{9450DB2A-52D0-2996-DB43-B59AB9AFB9A1}"/>
              </a:ext>
            </a:extLst>
          </p:cNvPr>
          <p:cNvSpPr>
            <a:spLocks noGrp="1"/>
          </p:cNvSpPr>
          <p:nvPr>
            <p:ph type="dt" sz="half" idx="10"/>
          </p:nvPr>
        </p:nvSpPr>
        <p:spPr/>
        <p:txBody>
          <a:bodyPr/>
          <a:lstStyle/>
          <a:p>
            <a:fld id="{050741AE-4684-4D5C-854F-1AB768A2C094}" type="datetime3">
              <a:rPr lang="en-US" smtClean="0"/>
              <a:t>26 April 2025</a:t>
            </a:fld>
            <a:endParaRPr lang="en-US"/>
          </a:p>
        </p:txBody>
      </p:sp>
      <p:sp>
        <p:nvSpPr>
          <p:cNvPr id="8" name="Footer Placeholder 7">
            <a:extLst>
              <a:ext uri="{FF2B5EF4-FFF2-40B4-BE49-F238E27FC236}">
                <a16:creationId xmlns:a16="http://schemas.microsoft.com/office/drawing/2014/main" id="{C96D4B0B-2571-9911-B7AC-839D9E2AEA53}"/>
              </a:ext>
            </a:extLst>
          </p:cNvPr>
          <p:cNvSpPr>
            <a:spLocks noGrp="1"/>
          </p:cNvSpPr>
          <p:nvPr>
            <p:ph type="ftr" sz="quarter" idx="11"/>
          </p:nvPr>
        </p:nvSpPr>
        <p:spPr/>
        <p:txBody>
          <a:bodyPr/>
          <a:lstStyle/>
          <a:p>
            <a:r>
              <a:rPr lang="en-US"/>
              <a:t>School of Computing - CSE</a:t>
            </a:r>
          </a:p>
        </p:txBody>
      </p:sp>
      <p:sp>
        <p:nvSpPr>
          <p:cNvPr id="9" name="Slide Number Placeholder 8">
            <a:extLst>
              <a:ext uri="{FF2B5EF4-FFF2-40B4-BE49-F238E27FC236}">
                <a16:creationId xmlns:a16="http://schemas.microsoft.com/office/drawing/2014/main" id="{F5926D24-9420-3CBE-8EA1-52EBFA80282E}"/>
              </a:ext>
            </a:extLst>
          </p:cNvPr>
          <p:cNvSpPr>
            <a:spLocks noGrp="1"/>
          </p:cNvSpPr>
          <p:nvPr>
            <p:ph type="sldNum" sz="quarter" idx="12"/>
          </p:nvPr>
        </p:nvSpPr>
        <p:spPr/>
        <p:txBody>
          <a:bodyPr/>
          <a:lstStyle/>
          <a:p>
            <a:fld id="{7B28076C-CE04-4A00-BFAA-A90EA8355859}" type="slidenum">
              <a:rPr lang="en-US" smtClean="0"/>
              <a:pPr/>
              <a:t>10</a:t>
            </a:fld>
            <a:endParaRPr lang="en-US"/>
          </a:p>
        </p:txBody>
      </p:sp>
      <p:sp>
        <p:nvSpPr>
          <p:cNvPr id="2" name="Content Placeholder 1">
            <a:extLst>
              <a:ext uri="{FF2B5EF4-FFF2-40B4-BE49-F238E27FC236}">
                <a16:creationId xmlns:a16="http://schemas.microsoft.com/office/drawing/2014/main" id="{4EC33E8F-58D4-0513-6D8C-898AF7CF3EA0}"/>
              </a:ext>
            </a:extLst>
          </p:cNvPr>
          <p:cNvSpPr>
            <a:spLocks noGrp="1"/>
          </p:cNvSpPr>
          <p:nvPr>
            <p:ph idx="1"/>
          </p:nvPr>
        </p:nvSpPr>
        <p:spPr>
          <a:xfrm>
            <a:off x="457200" y="1399645"/>
            <a:ext cx="8229600" cy="4525963"/>
          </a:xfrm>
        </p:spPr>
        <p:txBody>
          <a:bodyPr>
            <a:noAutofit/>
          </a:bodyPr>
          <a:lstStyle/>
          <a:p>
            <a:pPr marL="0" indent="0">
              <a:lnSpc>
                <a:spcPct val="150000"/>
              </a:lnSpc>
              <a:buNone/>
            </a:pPr>
            <a:r>
              <a:rPr lang="en-US" sz="1800" b="1" dirty="0">
                <a:latin typeface="Arial" panose="020B0604020202020204" pitchFamily="34" charset="0"/>
                <a:cs typeface="Arial" panose="020B0604020202020204" pitchFamily="34" charset="0"/>
              </a:rPr>
              <a:t>MODULE 2:</a:t>
            </a:r>
            <a:r>
              <a:rPr lang="en-IN" sz="1800" b="1" dirty="0">
                <a:latin typeface="Arial" panose="020B0604020202020204" pitchFamily="34" charset="0"/>
                <a:cs typeface="Arial" panose="020B0604020202020204" pitchFamily="34" charset="0"/>
              </a:rPr>
              <a:t>Model Training &amp; Testing</a:t>
            </a:r>
          </a:p>
          <a:p>
            <a:pPr marL="0" indent="0">
              <a:lnSpc>
                <a:spcPct val="150000"/>
              </a:lnSpc>
              <a:buNone/>
            </a:pPr>
            <a:r>
              <a:rPr lang="en-US" sz="1600" dirty="0">
                <a:latin typeface="Arial" panose="020B0604020202020204" pitchFamily="34" charset="0"/>
                <a:cs typeface="Arial" panose="020B0604020202020204" pitchFamily="34" charset="0"/>
              </a:rPr>
              <a:t>In this module, machine learning models are implemented and tested for disease prediction. Various algorithms are compared to identify the best-performing model based on accuracy and efficiency.</a:t>
            </a:r>
          </a:p>
          <a:p>
            <a:pPr>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Implements multiple machine learning models for prediction.</a:t>
            </a:r>
          </a:p>
          <a:p>
            <a:pPr>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Compares performance of different models to choose the best one</a:t>
            </a:r>
          </a:p>
          <a:p>
            <a:pPr>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Evaluates models using testing datasets for accuracy</a:t>
            </a:r>
          </a:p>
        </p:txBody>
      </p:sp>
    </p:spTree>
    <p:extLst>
      <p:ext uri="{BB962C8B-B14F-4D97-AF65-F5344CB8AC3E}">
        <p14:creationId xmlns:p14="http://schemas.microsoft.com/office/powerpoint/2010/main" val="1458385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6C1C3-5CD6-AC98-094E-5ACE318A2CF7}"/>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75C1FA54-72A6-F420-EDD1-1C5AD76EAB48}"/>
              </a:ext>
            </a:extLst>
          </p:cNvPr>
          <p:cNvSpPr>
            <a:spLocks noGrp="1"/>
          </p:cNvSpPr>
          <p:nvPr>
            <p:ph type="title"/>
          </p:nvPr>
        </p:nvSpPr>
        <p:spPr>
          <a:xfrm>
            <a:off x="495300" y="381000"/>
            <a:ext cx="8229600" cy="655638"/>
          </a:xfrm>
        </p:spPr>
        <p:txBody>
          <a:bodyPr>
            <a:normAutofit/>
          </a:bodyPr>
          <a:lstStyle/>
          <a:p>
            <a:r>
              <a:rPr lang="en-US" sz="3600" dirty="0"/>
              <a:t>MODULE IMPLEMENTATION</a:t>
            </a:r>
          </a:p>
        </p:txBody>
      </p:sp>
      <p:sp>
        <p:nvSpPr>
          <p:cNvPr id="7" name="Date Placeholder 6">
            <a:extLst>
              <a:ext uri="{FF2B5EF4-FFF2-40B4-BE49-F238E27FC236}">
                <a16:creationId xmlns:a16="http://schemas.microsoft.com/office/drawing/2014/main" id="{F6C7FD29-85B1-D204-72C8-13F40AE80B18}"/>
              </a:ext>
            </a:extLst>
          </p:cNvPr>
          <p:cNvSpPr>
            <a:spLocks noGrp="1"/>
          </p:cNvSpPr>
          <p:nvPr>
            <p:ph type="dt" sz="half" idx="10"/>
          </p:nvPr>
        </p:nvSpPr>
        <p:spPr/>
        <p:txBody>
          <a:bodyPr/>
          <a:lstStyle/>
          <a:p>
            <a:fld id="{050741AE-4684-4D5C-854F-1AB768A2C094}" type="datetime3">
              <a:rPr lang="en-US" smtClean="0"/>
              <a:t>26 April 2025</a:t>
            </a:fld>
            <a:endParaRPr lang="en-US"/>
          </a:p>
        </p:txBody>
      </p:sp>
      <p:sp>
        <p:nvSpPr>
          <p:cNvPr id="8" name="Footer Placeholder 7">
            <a:extLst>
              <a:ext uri="{FF2B5EF4-FFF2-40B4-BE49-F238E27FC236}">
                <a16:creationId xmlns:a16="http://schemas.microsoft.com/office/drawing/2014/main" id="{3971BF5B-B238-0743-0A32-301AB1D51359}"/>
              </a:ext>
            </a:extLst>
          </p:cNvPr>
          <p:cNvSpPr>
            <a:spLocks noGrp="1"/>
          </p:cNvSpPr>
          <p:nvPr>
            <p:ph type="ftr" sz="quarter" idx="11"/>
          </p:nvPr>
        </p:nvSpPr>
        <p:spPr/>
        <p:txBody>
          <a:bodyPr/>
          <a:lstStyle/>
          <a:p>
            <a:r>
              <a:rPr lang="en-US"/>
              <a:t>School of Computing - CSE</a:t>
            </a:r>
          </a:p>
        </p:txBody>
      </p:sp>
      <p:sp>
        <p:nvSpPr>
          <p:cNvPr id="9" name="Slide Number Placeholder 8">
            <a:extLst>
              <a:ext uri="{FF2B5EF4-FFF2-40B4-BE49-F238E27FC236}">
                <a16:creationId xmlns:a16="http://schemas.microsoft.com/office/drawing/2014/main" id="{ECBCCC42-E1C4-2005-555C-0021A67BCEC6}"/>
              </a:ext>
            </a:extLst>
          </p:cNvPr>
          <p:cNvSpPr>
            <a:spLocks noGrp="1"/>
          </p:cNvSpPr>
          <p:nvPr>
            <p:ph type="sldNum" sz="quarter" idx="12"/>
          </p:nvPr>
        </p:nvSpPr>
        <p:spPr/>
        <p:txBody>
          <a:bodyPr/>
          <a:lstStyle/>
          <a:p>
            <a:fld id="{7B28076C-CE04-4A00-BFAA-A90EA8355859}" type="slidenum">
              <a:rPr lang="en-US" smtClean="0"/>
              <a:pPr/>
              <a:t>11</a:t>
            </a:fld>
            <a:endParaRPr lang="en-US"/>
          </a:p>
        </p:txBody>
      </p:sp>
      <p:sp>
        <p:nvSpPr>
          <p:cNvPr id="2" name="Content Placeholder 1">
            <a:extLst>
              <a:ext uri="{FF2B5EF4-FFF2-40B4-BE49-F238E27FC236}">
                <a16:creationId xmlns:a16="http://schemas.microsoft.com/office/drawing/2014/main" id="{093B53C5-2ACD-C065-DEC2-B877A41B000F}"/>
              </a:ext>
            </a:extLst>
          </p:cNvPr>
          <p:cNvSpPr>
            <a:spLocks noGrp="1"/>
          </p:cNvSpPr>
          <p:nvPr>
            <p:ph idx="1"/>
          </p:nvPr>
        </p:nvSpPr>
        <p:spPr>
          <a:xfrm>
            <a:off x="457200" y="1399645"/>
            <a:ext cx="8229600" cy="4525963"/>
          </a:xfrm>
        </p:spPr>
        <p:txBody>
          <a:bodyPr>
            <a:noAutofit/>
          </a:bodyPr>
          <a:lstStyle/>
          <a:p>
            <a:pPr marL="0" indent="0">
              <a:lnSpc>
                <a:spcPct val="150000"/>
              </a:lnSpc>
              <a:buNone/>
            </a:pPr>
            <a:r>
              <a:rPr lang="en-US" sz="1800" b="1" dirty="0">
                <a:latin typeface="Arial" panose="020B0604020202020204" pitchFamily="34" charset="0"/>
                <a:cs typeface="Arial" panose="020B0604020202020204" pitchFamily="34" charset="0"/>
              </a:rPr>
              <a:t>MODULE 3:</a:t>
            </a:r>
            <a:r>
              <a:rPr lang="en-IN" sz="1800" b="1" dirty="0">
                <a:latin typeface="Arial" panose="020B0604020202020204" pitchFamily="34" charset="0"/>
                <a:cs typeface="Arial" panose="020B0604020202020204" pitchFamily="34" charset="0"/>
              </a:rPr>
              <a:t>Web Application Development</a:t>
            </a:r>
          </a:p>
          <a:p>
            <a:pPr marL="0" indent="0">
              <a:lnSpc>
                <a:spcPct val="150000"/>
              </a:lnSpc>
              <a:buNone/>
            </a:pPr>
            <a:r>
              <a:rPr lang="en-US" sz="1600" dirty="0">
                <a:latin typeface="Arial" panose="020B0604020202020204" pitchFamily="34" charset="0"/>
                <a:cs typeface="Arial" panose="020B0604020202020204" pitchFamily="34" charset="0"/>
              </a:rPr>
              <a:t>This module involves creating a web-based application using Stream lit, providing a user-friendly interface for interaction. Users can input health data and receive real-time predictions for disease risk.</a:t>
            </a:r>
          </a:p>
          <a:p>
            <a:pPr>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Develops a responsive web interface using Stream lit</a:t>
            </a:r>
          </a:p>
          <a:p>
            <a:pPr>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Ensures real-time predictions and easy interaction for users</a:t>
            </a:r>
          </a:p>
          <a:p>
            <a:pPr>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Implements input forms for health parameters and prediction display</a:t>
            </a:r>
          </a:p>
          <a:p>
            <a:pPr marL="0" indent="0">
              <a:lnSpc>
                <a:spcPct val="150000"/>
              </a:lnSpc>
              <a:buNone/>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6183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6C59-E070-D0B3-1C51-2010E121D102}"/>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EBC16C85-72D1-A9B1-8A89-BAAD9C5B9981}"/>
              </a:ext>
            </a:extLst>
          </p:cNvPr>
          <p:cNvSpPr>
            <a:spLocks noGrp="1"/>
          </p:cNvSpPr>
          <p:nvPr>
            <p:ph type="title"/>
          </p:nvPr>
        </p:nvSpPr>
        <p:spPr>
          <a:xfrm>
            <a:off x="495300" y="381000"/>
            <a:ext cx="8229600" cy="655638"/>
          </a:xfrm>
        </p:spPr>
        <p:txBody>
          <a:bodyPr>
            <a:normAutofit/>
          </a:bodyPr>
          <a:lstStyle/>
          <a:p>
            <a:r>
              <a:rPr lang="en-US" sz="3600" dirty="0"/>
              <a:t>MODULE IMPLEMENTATION</a:t>
            </a:r>
          </a:p>
        </p:txBody>
      </p:sp>
      <p:sp>
        <p:nvSpPr>
          <p:cNvPr id="7" name="Date Placeholder 6">
            <a:extLst>
              <a:ext uri="{FF2B5EF4-FFF2-40B4-BE49-F238E27FC236}">
                <a16:creationId xmlns:a16="http://schemas.microsoft.com/office/drawing/2014/main" id="{6918D097-EE9A-5F5A-88CD-7B2ACA82F75D}"/>
              </a:ext>
            </a:extLst>
          </p:cNvPr>
          <p:cNvSpPr>
            <a:spLocks noGrp="1"/>
          </p:cNvSpPr>
          <p:nvPr>
            <p:ph type="dt" sz="half" idx="10"/>
          </p:nvPr>
        </p:nvSpPr>
        <p:spPr/>
        <p:txBody>
          <a:bodyPr/>
          <a:lstStyle/>
          <a:p>
            <a:fld id="{050741AE-4684-4D5C-854F-1AB768A2C094}" type="datetime3">
              <a:rPr lang="en-US" smtClean="0"/>
              <a:t>26 April 2025</a:t>
            </a:fld>
            <a:endParaRPr lang="en-US"/>
          </a:p>
        </p:txBody>
      </p:sp>
      <p:sp>
        <p:nvSpPr>
          <p:cNvPr id="8" name="Footer Placeholder 7">
            <a:extLst>
              <a:ext uri="{FF2B5EF4-FFF2-40B4-BE49-F238E27FC236}">
                <a16:creationId xmlns:a16="http://schemas.microsoft.com/office/drawing/2014/main" id="{5E94A4A9-C39C-210D-6307-07F502ECF6E4}"/>
              </a:ext>
            </a:extLst>
          </p:cNvPr>
          <p:cNvSpPr>
            <a:spLocks noGrp="1"/>
          </p:cNvSpPr>
          <p:nvPr>
            <p:ph type="ftr" sz="quarter" idx="11"/>
          </p:nvPr>
        </p:nvSpPr>
        <p:spPr/>
        <p:txBody>
          <a:bodyPr/>
          <a:lstStyle/>
          <a:p>
            <a:r>
              <a:rPr lang="en-US"/>
              <a:t>School of Computing - CSE</a:t>
            </a:r>
          </a:p>
        </p:txBody>
      </p:sp>
      <p:sp>
        <p:nvSpPr>
          <p:cNvPr id="9" name="Slide Number Placeholder 8">
            <a:extLst>
              <a:ext uri="{FF2B5EF4-FFF2-40B4-BE49-F238E27FC236}">
                <a16:creationId xmlns:a16="http://schemas.microsoft.com/office/drawing/2014/main" id="{CD4B3611-DB7F-E6DB-87BF-CD65EF0A9724}"/>
              </a:ext>
            </a:extLst>
          </p:cNvPr>
          <p:cNvSpPr>
            <a:spLocks noGrp="1"/>
          </p:cNvSpPr>
          <p:nvPr>
            <p:ph type="sldNum" sz="quarter" idx="12"/>
          </p:nvPr>
        </p:nvSpPr>
        <p:spPr/>
        <p:txBody>
          <a:bodyPr/>
          <a:lstStyle/>
          <a:p>
            <a:fld id="{7B28076C-CE04-4A00-BFAA-A90EA8355859}" type="slidenum">
              <a:rPr lang="en-US" smtClean="0"/>
              <a:pPr/>
              <a:t>12</a:t>
            </a:fld>
            <a:endParaRPr lang="en-US"/>
          </a:p>
        </p:txBody>
      </p:sp>
      <p:sp>
        <p:nvSpPr>
          <p:cNvPr id="2" name="Content Placeholder 1">
            <a:extLst>
              <a:ext uri="{FF2B5EF4-FFF2-40B4-BE49-F238E27FC236}">
                <a16:creationId xmlns:a16="http://schemas.microsoft.com/office/drawing/2014/main" id="{A7A41B42-1A2A-C4EB-8D5A-28CDAC336550}"/>
              </a:ext>
            </a:extLst>
          </p:cNvPr>
          <p:cNvSpPr>
            <a:spLocks noGrp="1"/>
          </p:cNvSpPr>
          <p:nvPr>
            <p:ph idx="1"/>
          </p:nvPr>
        </p:nvSpPr>
        <p:spPr>
          <a:xfrm>
            <a:off x="457200" y="1399645"/>
            <a:ext cx="8229600" cy="4525963"/>
          </a:xfrm>
        </p:spPr>
        <p:txBody>
          <a:bodyPr>
            <a:noAutofit/>
          </a:bodyPr>
          <a:lstStyle/>
          <a:p>
            <a:pPr marL="0" indent="0">
              <a:lnSpc>
                <a:spcPct val="150000"/>
              </a:lnSpc>
              <a:buNone/>
            </a:pPr>
            <a:r>
              <a:rPr lang="en-US" sz="1800" b="1" dirty="0">
                <a:latin typeface="Arial" panose="020B0604020202020204" pitchFamily="34" charset="0"/>
                <a:cs typeface="Arial" panose="020B0604020202020204" pitchFamily="34" charset="0"/>
              </a:rPr>
              <a:t>MODULE 4:</a:t>
            </a:r>
            <a:r>
              <a:rPr lang="en-IN" sz="1800" b="1" dirty="0">
                <a:latin typeface="Arial" panose="020B0604020202020204" pitchFamily="34" charset="0"/>
                <a:cs typeface="Arial" panose="020B0604020202020204" pitchFamily="34" charset="0"/>
              </a:rPr>
              <a:t>Additional Features</a:t>
            </a:r>
          </a:p>
          <a:p>
            <a:pPr marL="0" indent="0">
              <a:lnSpc>
                <a:spcPct val="150000"/>
              </a:lnSpc>
              <a:buNone/>
            </a:pPr>
            <a:r>
              <a:rPr lang="en-US" sz="1600" dirty="0">
                <a:latin typeface="Arial" panose="020B0604020202020204" pitchFamily="34" charset="0"/>
                <a:cs typeface="Arial" panose="020B0604020202020204" pitchFamily="34" charset="0"/>
              </a:rPr>
              <a:t>In this module, extra features like the BMI calculator, print results, and clear cache functionality are integrated to enhance the user experience. These features provide additional health monitoring and application efficiency.</a:t>
            </a:r>
          </a:p>
          <a:p>
            <a:pPr>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Includes a BMI tracker for health monitoring</a:t>
            </a:r>
          </a:p>
          <a:p>
            <a:pPr>
              <a:lnSpc>
                <a:spcPct val="150000"/>
              </a:lnSpc>
              <a:buFont typeface="Wingdings" panose="05000000000000000000" pitchFamily="2" charset="2"/>
              <a:buChar char="Ø"/>
            </a:pPr>
            <a:r>
              <a:rPr lang="en-US" sz="1600" dirty="0">
                <a:latin typeface="Arial" panose="020B0604020202020204" pitchFamily="34" charset="0"/>
                <a:cs typeface="Arial" panose="020B0604020202020204" pitchFamily="34" charset="0"/>
              </a:rPr>
              <a:t>Adds functionality to print results for user convenience</a:t>
            </a:r>
          </a:p>
          <a:p>
            <a:pPr>
              <a:lnSpc>
                <a:spcPct val="150000"/>
              </a:lnSpc>
              <a:buFont typeface="Wingdings" panose="05000000000000000000" pitchFamily="2" charset="2"/>
              <a:buChar char="Ø"/>
            </a:pPr>
            <a:r>
              <a:rPr lang="en-IN" sz="1600" dirty="0">
                <a:latin typeface="Arial" panose="020B0604020202020204" pitchFamily="34" charset="0"/>
                <a:cs typeface="Arial" panose="020B0604020202020204" pitchFamily="34" charset="0"/>
              </a:rPr>
              <a:t>Implements clear cache option for efficient app performance</a:t>
            </a:r>
          </a:p>
          <a:p>
            <a:pPr marL="0" indent="0">
              <a:lnSpc>
                <a:spcPct val="150000"/>
              </a:lnSpc>
              <a:buNone/>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405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26558-6CD2-771E-1E0F-3AF883ED8ACA}"/>
              </a:ext>
            </a:extLst>
          </p:cNvPr>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OUTPUT</a:t>
            </a:r>
            <a:endParaRPr lang="en-IN" sz="3600" dirty="0">
              <a:latin typeface="Arial" panose="020B0604020202020204" pitchFamily="34" charset="0"/>
              <a:cs typeface="Arial" panose="020B0604020202020204" pitchFamily="34" charset="0"/>
            </a:endParaRPr>
          </a:p>
        </p:txBody>
      </p:sp>
      <p:pic>
        <p:nvPicPr>
          <p:cNvPr id="8" name="Content Placeholder 7">
            <a:extLst>
              <a:ext uri="{FF2B5EF4-FFF2-40B4-BE49-F238E27FC236}">
                <a16:creationId xmlns:a16="http://schemas.microsoft.com/office/drawing/2014/main" id="{7D1B65A2-DBFC-6234-0CF7-3BC612DBB5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752600"/>
            <a:ext cx="8229600" cy="4144866"/>
          </a:xfrm>
        </p:spPr>
      </p:pic>
      <p:sp>
        <p:nvSpPr>
          <p:cNvPr id="4" name="Date Placeholder 3">
            <a:extLst>
              <a:ext uri="{FF2B5EF4-FFF2-40B4-BE49-F238E27FC236}">
                <a16:creationId xmlns:a16="http://schemas.microsoft.com/office/drawing/2014/main" id="{AFD65269-2A81-7F35-A5AC-6A39CBCCE40C}"/>
              </a:ext>
            </a:extLst>
          </p:cNvPr>
          <p:cNvSpPr>
            <a:spLocks noGrp="1"/>
          </p:cNvSpPr>
          <p:nvPr>
            <p:ph type="dt" sz="half" idx="10"/>
          </p:nvPr>
        </p:nvSpPr>
        <p:spPr/>
        <p:txBody>
          <a:bodyPr/>
          <a:lstStyle/>
          <a:p>
            <a:fld id="{EB7275DB-6D13-480B-AC77-F5019BDC5287}" type="datetime3">
              <a:rPr lang="en-US" smtClean="0"/>
              <a:t>26 April 2025</a:t>
            </a:fld>
            <a:endParaRPr lang="en-US"/>
          </a:p>
        </p:txBody>
      </p:sp>
      <p:sp>
        <p:nvSpPr>
          <p:cNvPr id="5" name="Footer Placeholder 4">
            <a:extLst>
              <a:ext uri="{FF2B5EF4-FFF2-40B4-BE49-F238E27FC236}">
                <a16:creationId xmlns:a16="http://schemas.microsoft.com/office/drawing/2014/main" id="{B8DFBBAD-B733-7219-468D-1DBF5CBB8C3B}"/>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1B526EF1-6EC2-F662-BCDF-496CCF48F54E}"/>
              </a:ext>
            </a:extLst>
          </p:cNvPr>
          <p:cNvSpPr>
            <a:spLocks noGrp="1"/>
          </p:cNvSpPr>
          <p:nvPr>
            <p:ph type="sldNum" sz="quarter" idx="12"/>
          </p:nvPr>
        </p:nvSpPr>
        <p:spPr/>
        <p:txBody>
          <a:bodyPr/>
          <a:lstStyle/>
          <a:p>
            <a:fld id="{7B28076C-CE04-4A00-BFAA-A90EA8355859}" type="slidenum">
              <a:rPr lang="en-US" smtClean="0"/>
              <a:pPr/>
              <a:t>13</a:t>
            </a:fld>
            <a:endParaRPr lang="en-US"/>
          </a:p>
        </p:txBody>
      </p:sp>
    </p:spTree>
    <p:extLst>
      <p:ext uri="{BB962C8B-B14F-4D97-AF65-F5344CB8AC3E}">
        <p14:creationId xmlns:p14="http://schemas.microsoft.com/office/powerpoint/2010/main" val="2425520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9B71F-8C63-5ABC-E7B1-1E7FBB58F381}"/>
              </a:ext>
            </a:extLst>
          </p:cNvPr>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OUTPUT</a:t>
            </a:r>
            <a:endParaRPr lang="en-IN" sz="3600" dirty="0">
              <a:latin typeface="Arial" panose="020B0604020202020204" pitchFamily="34" charset="0"/>
              <a:cs typeface="Arial" panose="020B0604020202020204" pitchFamily="34" charset="0"/>
            </a:endParaRPr>
          </a:p>
        </p:txBody>
      </p:sp>
      <p:pic>
        <p:nvPicPr>
          <p:cNvPr id="8" name="Content Placeholder 7">
            <a:extLst>
              <a:ext uri="{FF2B5EF4-FFF2-40B4-BE49-F238E27FC236}">
                <a16:creationId xmlns:a16="http://schemas.microsoft.com/office/drawing/2014/main" id="{5E010542-1AFC-BC50-836D-29F2183C9A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944013"/>
            <a:ext cx="8229600" cy="3838336"/>
          </a:xfrm>
        </p:spPr>
      </p:pic>
      <p:sp>
        <p:nvSpPr>
          <p:cNvPr id="4" name="Date Placeholder 3">
            <a:extLst>
              <a:ext uri="{FF2B5EF4-FFF2-40B4-BE49-F238E27FC236}">
                <a16:creationId xmlns:a16="http://schemas.microsoft.com/office/drawing/2014/main" id="{A36CE0FD-5A66-DD78-4AA0-15447049491C}"/>
              </a:ext>
            </a:extLst>
          </p:cNvPr>
          <p:cNvSpPr>
            <a:spLocks noGrp="1"/>
          </p:cNvSpPr>
          <p:nvPr>
            <p:ph type="dt" sz="half" idx="10"/>
          </p:nvPr>
        </p:nvSpPr>
        <p:spPr/>
        <p:txBody>
          <a:bodyPr/>
          <a:lstStyle/>
          <a:p>
            <a:fld id="{EB7275DB-6D13-480B-AC77-F5019BDC5287}" type="datetime3">
              <a:rPr lang="en-US" smtClean="0"/>
              <a:t>26 April 2025</a:t>
            </a:fld>
            <a:endParaRPr lang="en-US"/>
          </a:p>
        </p:txBody>
      </p:sp>
      <p:sp>
        <p:nvSpPr>
          <p:cNvPr id="5" name="Footer Placeholder 4">
            <a:extLst>
              <a:ext uri="{FF2B5EF4-FFF2-40B4-BE49-F238E27FC236}">
                <a16:creationId xmlns:a16="http://schemas.microsoft.com/office/drawing/2014/main" id="{3149B4DC-10CF-7603-8698-C269B854BAE9}"/>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735F1B71-4A01-7C87-7A80-043B96D2C766}"/>
              </a:ext>
            </a:extLst>
          </p:cNvPr>
          <p:cNvSpPr>
            <a:spLocks noGrp="1"/>
          </p:cNvSpPr>
          <p:nvPr>
            <p:ph type="sldNum" sz="quarter" idx="12"/>
          </p:nvPr>
        </p:nvSpPr>
        <p:spPr/>
        <p:txBody>
          <a:bodyPr/>
          <a:lstStyle/>
          <a:p>
            <a:fld id="{7B28076C-CE04-4A00-BFAA-A90EA8355859}" type="slidenum">
              <a:rPr lang="en-US" smtClean="0"/>
              <a:pPr/>
              <a:t>14</a:t>
            </a:fld>
            <a:endParaRPr lang="en-US"/>
          </a:p>
        </p:txBody>
      </p:sp>
    </p:spTree>
    <p:extLst>
      <p:ext uri="{BB962C8B-B14F-4D97-AF65-F5344CB8AC3E}">
        <p14:creationId xmlns:p14="http://schemas.microsoft.com/office/powerpoint/2010/main" val="1063978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1D978-DA6D-CDC7-1E2D-A3C720832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13BC8-F8A9-5C7D-E5FC-6FEE98A771F6}"/>
              </a:ext>
            </a:extLst>
          </p:cNvPr>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OUTPUT</a:t>
            </a:r>
            <a:endParaRPr lang="en-IN" sz="36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332D700A-1CBC-E1BE-A776-786C67B6B33F}"/>
              </a:ext>
            </a:extLst>
          </p:cNvPr>
          <p:cNvSpPr>
            <a:spLocks noGrp="1"/>
          </p:cNvSpPr>
          <p:nvPr>
            <p:ph type="dt" sz="half" idx="10"/>
          </p:nvPr>
        </p:nvSpPr>
        <p:spPr/>
        <p:txBody>
          <a:bodyPr/>
          <a:lstStyle/>
          <a:p>
            <a:fld id="{EB7275DB-6D13-480B-AC77-F5019BDC5287}" type="datetime3">
              <a:rPr lang="en-US" smtClean="0"/>
              <a:t>26 April 2025</a:t>
            </a:fld>
            <a:endParaRPr lang="en-US"/>
          </a:p>
        </p:txBody>
      </p:sp>
      <p:sp>
        <p:nvSpPr>
          <p:cNvPr id="5" name="Footer Placeholder 4">
            <a:extLst>
              <a:ext uri="{FF2B5EF4-FFF2-40B4-BE49-F238E27FC236}">
                <a16:creationId xmlns:a16="http://schemas.microsoft.com/office/drawing/2014/main" id="{1AA5DF93-5744-B94E-B708-3E1D60C2EA78}"/>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7E0ED706-2976-8D81-79FA-35E5C9FFEAFF}"/>
              </a:ext>
            </a:extLst>
          </p:cNvPr>
          <p:cNvSpPr>
            <a:spLocks noGrp="1"/>
          </p:cNvSpPr>
          <p:nvPr>
            <p:ph type="sldNum" sz="quarter" idx="12"/>
          </p:nvPr>
        </p:nvSpPr>
        <p:spPr/>
        <p:txBody>
          <a:bodyPr/>
          <a:lstStyle/>
          <a:p>
            <a:fld id="{7B28076C-CE04-4A00-BFAA-A90EA8355859}" type="slidenum">
              <a:rPr lang="en-US" smtClean="0"/>
              <a:pPr/>
              <a:t>15</a:t>
            </a:fld>
            <a:endParaRPr lang="en-US"/>
          </a:p>
        </p:txBody>
      </p:sp>
      <p:pic>
        <p:nvPicPr>
          <p:cNvPr id="12" name="Content Placeholder 11">
            <a:extLst>
              <a:ext uri="{FF2B5EF4-FFF2-40B4-BE49-F238E27FC236}">
                <a16:creationId xmlns:a16="http://schemas.microsoft.com/office/drawing/2014/main" id="{184B65DC-9FD0-6D2D-6EF5-BBBEDB22C3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768257"/>
            <a:ext cx="8229600" cy="4189848"/>
          </a:xfrm>
        </p:spPr>
      </p:pic>
    </p:spTree>
    <p:extLst>
      <p:ext uri="{BB962C8B-B14F-4D97-AF65-F5344CB8AC3E}">
        <p14:creationId xmlns:p14="http://schemas.microsoft.com/office/powerpoint/2010/main" val="168473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ABAFC-23D8-ABF0-F280-6F317263B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7B187-88D2-5DBB-ECFB-076AA2EA2EFA}"/>
              </a:ext>
            </a:extLst>
          </p:cNvPr>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OUTPUT</a:t>
            </a:r>
            <a:endParaRPr lang="en-IN" sz="36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12FBB2DA-1942-D642-44DB-BC5A72030A5F}"/>
              </a:ext>
            </a:extLst>
          </p:cNvPr>
          <p:cNvSpPr>
            <a:spLocks noGrp="1"/>
          </p:cNvSpPr>
          <p:nvPr>
            <p:ph type="dt" sz="half" idx="10"/>
          </p:nvPr>
        </p:nvSpPr>
        <p:spPr/>
        <p:txBody>
          <a:bodyPr/>
          <a:lstStyle/>
          <a:p>
            <a:fld id="{EB7275DB-6D13-480B-AC77-F5019BDC5287}" type="datetime3">
              <a:rPr lang="en-US" smtClean="0"/>
              <a:t>26 April 2025</a:t>
            </a:fld>
            <a:endParaRPr lang="en-US"/>
          </a:p>
        </p:txBody>
      </p:sp>
      <p:sp>
        <p:nvSpPr>
          <p:cNvPr id="5" name="Footer Placeholder 4">
            <a:extLst>
              <a:ext uri="{FF2B5EF4-FFF2-40B4-BE49-F238E27FC236}">
                <a16:creationId xmlns:a16="http://schemas.microsoft.com/office/drawing/2014/main" id="{9E55953C-D358-098A-E370-18952E2ECB45}"/>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4D2B4C4D-335A-A565-3D0E-D06DD7D39891}"/>
              </a:ext>
            </a:extLst>
          </p:cNvPr>
          <p:cNvSpPr>
            <a:spLocks noGrp="1"/>
          </p:cNvSpPr>
          <p:nvPr>
            <p:ph type="sldNum" sz="quarter" idx="12"/>
          </p:nvPr>
        </p:nvSpPr>
        <p:spPr/>
        <p:txBody>
          <a:bodyPr/>
          <a:lstStyle/>
          <a:p>
            <a:fld id="{7B28076C-CE04-4A00-BFAA-A90EA8355859}" type="slidenum">
              <a:rPr lang="en-US" smtClean="0"/>
              <a:pPr/>
              <a:t>16</a:t>
            </a:fld>
            <a:endParaRPr lang="en-US"/>
          </a:p>
        </p:txBody>
      </p:sp>
      <p:pic>
        <p:nvPicPr>
          <p:cNvPr id="12" name="Content Placeholder 11">
            <a:extLst>
              <a:ext uri="{FF2B5EF4-FFF2-40B4-BE49-F238E27FC236}">
                <a16:creationId xmlns:a16="http://schemas.microsoft.com/office/drawing/2014/main" id="{FFD77111-E415-C1DF-40BC-9FA5AA1240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828800"/>
            <a:ext cx="8229600" cy="4155540"/>
          </a:xfrm>
        </p:spPr>
      </p:pic>
    </p:spTree>
    <p:extLst>
      <p:ext uri="{BB962C8B-B14F-4D97-AF65-F5344CB8AC3E}">
        <p14:creationId xmlns:p14="http://schemas.microsoft.com/office/powerpoint/2010/main" val="2367626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42469-BA60-0A31-0F84-648D68634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AD526-3CB5-6378-FECF-B8E3421F2CDA}"/>
              </a:ext>
            </a:extLst>
          </p:cNvPr>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OUTPUT</a:t>
            </a:r>
            <a:endParaRPr lang="en-IN" sz="36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01A56496-87C3-6349-9623-7DC10A2DC4DE}"/>
              </a:ext>
            </a:extLst>
          </p:cNvPr>
          <p:cNvSpPr>
            <a:spLocks noGrp="1"/>
          </p:cNvSpPr>
          <p:nvPr>
            <p:ph type="dt" sz="half" idx="10"/>
          </p:nvPr>
        </p:nvSpPr>
        <p:spPr/>
        <p:txBody>
          <a:bodyPr/>
          <a:lstStyle/>
          <a:p>
            <a:fld id="{EB7275DB-6D13-480B-AC77-F5019BDC5287}" type="datetime3">
              <a:rPr lang="en-US" smtClean="0"/>
              <a:t>26 April 2025</a:t>
            </a:fld>
            <a:endParaRPr lang="en-US"/>
          </a:p>
        </p:txBody>
      </p:sp>
      <p:sp>
        <p:nvSpPr>
          <p:cNvPr id="5" name="Footer Placeholder 4">
            <a:extLst>
              <a:ext uri="{FF2B5EF4-FFF2-40B4-BE49-F238E27FC236}">
                <a16:creationId xmlns:a16="http://schemas.microsoft.com/office/drawing/2014/main" id="{53678981-E098-0A66-611E-40B9DEC67C01}"/>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553AF5CC-8357-FE61-BE22-66B965B51E5A}"/>
              </a:ext>
            </a:extLst>
          </p:cNvPr>
          <p:cNvSpPr>
            <a:spLocks noGrp="1"/>
          </p:cNvSpPr>
          <p:nvPr>
            <p:ph type="sldNum" sz="quarter" idx="12"/>
          </p:nvPr>
        </p:nvSpPr>
        <p:spPr/>
        <p:txBody>
          <a:bodyPr/>
          <a:lstStyle/>
          <a:p>
            <a:fld id="{7B28076C-CE04-4A00-BFAA-A90EA8355859}" type="slidenum">
              <a:rPr lang="en-US" smtClean="0"/>
              <a:pPr/>
              <a:t>17</a:t>
            </a:fld>
            <a:endParaRPr lang="en-US"/>
          </a:p>
        </p:txBody>
      </p:sp>
      <p:pic>
        <p:nvPicPr>
          <p:cNvPr id="12" name="Content Placeholder 11">
            <a:extLst>
              <a:ext uri="{FF2B5EF4-FFF2-40B4-BE49-F238E27FC236}">
                <a16:creationId xmlns:a16="http://schemas.microsoft.com/office/drawing/2014/main" id="{E9FF8796-4014-1872-C687-5BFD451D69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783267"/>
            <a:ext cx="8229600" cy="4159829"/>
          </a:xfrm>
        </p:spPr>
      </p:pic>
    </p:spTree>
    <p:extLst>
      <p:ext uri="{BB962C8B-B14F-4D97-AF65-F5344CB8AC3E}">
        <p14:creationId xmlns:p14="http://schemas.microsoft.com/office/powerpoint/2010/main" val="3395398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21C14-62F4-FC7F-8B09-8A4BBC3BC182}"/>
              </a:ext>
            </a:extLst>
          </p:cNvPr>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OUTPUT</a:t>
            </a:r>
            <a:endParaRPr lang="en-IN" sz="36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E732B2A8-049D-435A-780C-9AFD7B818F34}"/>
              </a:ext>
            </a:extLst>
          </p:cNvPr>
          <p:cNvSpPr>
            <a:spLocks noGrp="1"/>
          </p:cNvSpPr>
          <p:nvPr>
            <p:ph type="dt" sz="half" idx="10"/>
          </p:nvPr>
        </p:nvSpPr>
        <p:spPr/>
        <p:txBody>
          <a:bodyPr/>
          <a:lstStyle/>
          <a:p>
            <a:fld id="{EB7275DB-6D13-480B-AC77-F5019BDC5287}" type="datetime3">
              <a:rPr lang="en-US" smtClean="0"/>
              <a:t>26 April 2025</a:t>
            </a:fld>
            <a:endParaRPr lang="en-US"/>
          </a:p>
        </p:txBody>
      </p:sp>
      <p:sp>
        <p:nvSpPr>
          <p:cNvPr id="5" name="Footer Placeholder 4">
            <a:extLst>
              <a:ext uri="{FF2B5EF4-FFF2-40B4-BE49-F238E27FC236}">
                <a16:creationId xmlns:a16="http://schemas.microsoft.com/office/drawing/2014/main" id="{93011E87-3474-C8F6-A310-2A62D99E9976}"/>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7529CEF0-FCFE-1533-6E26-64EF8D86ABAE}"/>
              </a:ext>
            </a:extLst>
          </p:cNvPr>
          <p:cNvSpPr>
            <a:spLocks noGrp="1"/>
          </p:cNvSpPr>
          <p:nvPr>
            <p:ph type="sldNum" sz="quarter" idx="12"/>
          </p:nvPr>
        </p:nvSpPr>
        <p:spPr/>
        <p:txBody>
          <a:bodyPr/>
          <a:lstStyle/>
          <a:p>
            <a:fld id="{7B28076C-CE04-4A00-BFAA-A90EA8355859}" type="slidenum">
              <a:rPr lang="en-US" smtClean="0"/>
              <a:pPr/>
              <a:t>18</a:t>
            </a:fld>
            <a:endParaRPr lang="en-US"/>
          </a:p>
        </p:txBody>
      </p:sp>
      <p:pic>
        <p:nvPicPr>
          <p:cNvPr id="12" name="Content Placeholder 11">
            <a:extLst>
              <a:ext uri="{FF2B5EF4-FFF2-40B4-BE49-F238E27FC236}">
                <a16:creationId xmlns:a16="http://schemas.microsoft.com/office/drawing/2014/main" id="{58E6A4FB-445B-3F8F-5048-495B852348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973120"/>
            <a:ext cx="8229600" cy="3780123"/>
          </a:xfrm>
        </p:spPr>
      </p:pic>
    </p:spTree>
    <p:extLst>
      <p:ext uri="{BB962C8B-B14F-4D97-AF65-F5344CB8AC3E}">
        <p14:creationId xmlns:p14="http://schemas.microsoft.com/office/powerpoint/2010/main" val="2084058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43522-87F1-0183-79A0-3BF572048E2E}"/>
              </a:ext>
            </a:extLst>
          </p:cNvPr>
          <p:cNvSpPr>
            <a:spLocks noGrp="1"/>
          </p:cNvSpPr>
          <p:nvPr>
            <p:ph type="title"/>
          </p:nvPr>
        </p:nvSpPr>
        <p:spPr/>
        <p:txBody>
          <a:bodyPr/>
          <a:lstStyle/>
          <a:p>
            <a:r>
              <a:rPr lang="en-US" sz="3600" dirty="0"/>
              <a:t>RESULTS AND DISCUSSIONS</a:t>
            </a:r>
          </a:p>
        </p:txBody>
      </p:sp>
      <p:sp>
        <p:nvSpPr>
          <p:cNvPr id="4" name="Date Placeholder 3">
            <a:extLst>
              <a:ext uri="{FF2B5EF4-FFF2-40B4-BE49-F238E27FC236}">
                <a16:creationId xmlns:a16="http://schemas.microsoft.com/office/drawing/2014/main" id="{85FCEF5C-A5C4-404E-8271-CD773518A8CC}"/>
              </a:ext>
            </a:extLst>
          </p:cNvPr>
          <p:cNvSpPr>
            <a:spLocks noGrp="1"/>
          </p:cNvSpPr>
          <p:nvPr>
            <p:ph type="dt" sz="half" idx="10"/>
          </p:nvPr>
        </p:nvSpPr>
        <p:spPr/>
        <p:txBody>
          <a:bodyPr/>
          <a:lstStyle/>
          <a:p>
            <a:fld id="{4155CCEA-12CF-4A2F-BE8D-0F11C2983375}" type="datetime3">
              <a:rPr lang="en-US" smtClean="0"/>
              <a:t>26 April 2025</a:t>
            </a:fld>
            <a:endParaRPr lang="en-US"/>
          </a:p>
        </p:txBody>
      </p:sp>
      <p:sp>
        <p:nvSpPr>
          <p:cNvPr id="5" name="Footer Placeholder 4">
            <a:extLst>
              <a:ext uri="{FF2B5EF4-FFF2-40B4-BE49-F238E27FC236}">
                <a16:creationId xmlns:a16="http://schemas.microsoft.com/office/drawing/2014/main" id="{DC06376F-42AD-365E-1C66-6123118B7336}"/>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3B68AEB9-CE7F-2F4A-0EC9-43F43959718E}"/>
              </a:ext>
            </a:extLst>
          </p:cNvPr>
          <p:cNvSpPr>
            <a:spLocks noGrp="1"/>
          </p:cNvSpPr>
          <p:nvPr>
            <p:ph type="sldNum" sz="quarter" idx="12"/>
          </p:nvPr>
        </p:nvSpPr>
        <p:spPr/>
        <p:txBody>
          <a:bodyPr/>
          <a:lstStyle/>
          <a:p>
            <a:fld id="{7B28076C-CE04-4A00-BFAA-A90EA8355859}" type="slidenum">
              <a:rPr lang="en-US" smtClean="0"/>
              <a:pPr/>
              <a:t>19</a:t>
            </a:fld>
            <a:endParaRPr lang="en-US"/>
          </a:p>
        </p:txBody>
      </p:sp>
      <p:sp>
        <p:nvSpPr>
          <p:cNvPr id="7" name="Content Placeholder 6"/>
          <p:cNvSpPr>
            <a:spLocks noGrp="1"/>
          </p:cNvSpPr>
          <p:nvPr>
            <p:ph idx="1"/>
          </p:nvPr>
        </p:nvSpPr>
        <p:spPr>
          <a:xfrm>
            <a:off x="474406" y="1398639"/>
            <a:ext cx="8229600" cy="4525963"/>
          </a:xfrm>
        </p:spPr>
        <p:txBody>
          <a:bodyPr>
            <a:noAutofit/>
          </a:bodyPr>
          <a:lstStyle/>
          <a:p>
            <a:pPr marL="0" indent="0" algn="just">
              <a:lnSpc>
                <a:spcPct val="150000"/>
              </a:lnSpc>
              <a:buNone/>
            </a:pPr>
            <a:r>
              <a:rPr lang="en-US" sz="1600" dirty="0">
                <a:latin typeface="Arial" panose="020B0604020202020204" pitchFamily="34" charset="0"/>
                <a:cs typeface="Arial" panose="020B0604020202020204" pitchFamily="34" charset="0"/>
              </a:rPr>
              <a:t>To ensure the reliability and effectiveness of the disease prediction system, the model’s accuracy is thoroughly evaluated using standard performance metrics such as precision, recall, and F1-score. These metrics help assess how well the model identifies true cases and avoids false predictions. Multiple machine learning algorithms are implemented and compared during the development process to determine which one offers the highest accuracy and best performance for each disease category. This comparative analysis ensures that the most suitable model is chosen for real-world application. Furthermore, the system is designed with a user-friendly interface, making it accessible even to users with little or no technical background. The intuitive layout and clear output allow individuals to easily input their health data and interpret the prediction results with confidence.</a:t>
            </a:r>
          </a:p>
        </p:txBody>
      </p:sp>
    </p:spTree>
    <p:extLst>
      <p:ext uri="{BB962C8B-B14F-4D97-AF65-F5344CB8AC3E}">
        <p14:creationId xmlns:p14="http://schemas.microsoft.com/office/powerpoint/2010/main" val="2252522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CONCLUSION</a:t>
            </a:r>
          </a:p>
        </p:txBody>
      </p:sp>
      <p:sp>
        <p:nvSpPr>
          <p:cNvPr id="4" name="Date Placeholder 3"/>
          <p:cNvSpPr>
            <a:spLocks noGrp="1"/>
          </p:cNvSpPr>
          <p:nvPr>
            <p:ph type="dt" sz="half" idx="10"/>
          </p:nvPr>
        </p:nvSpPr>
        <p:spPr/>
        <p:txBody>
          <a:bodyPr/>
          <a:lstStyle/>
          <a:p>
            <a:fld id="{EB7275DB-6D13-480B-AC77-F5019BDC5287}" type="datetime3">
              <a:rPr lang="en-US" smtClean="0"/>
              <a:t>26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20</a:t>
            </a:fld>
            <a:endParaRPr lang="en-US"/>
          </a:p>
        </p:txBody>
      </p:sp>
      <p:sp>
        <p:nvSpPr>
          <p:cNvPr id="7" name="TextBox 6">
            <a:extLst>
              <a:ext uri="{FF2B5EF4-FFF2-40B4-BE49-F238E27FC236}">
                <a16:creationId xmlns:a16="http://schemas.microsoft.com/office/drawing/2014/main" id="{97DDF2C4-382E-FD72-4E0D-41A09D0D1C31}"/>
              </a:ext>
            </a:extLst>
          </p:cNvPr>
          <p:cNvSpPr txBox="1"/>
          <p:nvPr/>
        </p:nvSpPr>
        <p:spPr>
          <a:xfrm>
            <a:off x="609600" y="1600200"/>
            <a:ext cx="8229600" cy="4196020"/>
          </a:xfrm>
          <a:prstGeom prst="rect">
            <a:avLst/>
          </a:prstGeom>
          <a:noFill/>
        </p:spPr>
        <p:txBody>
          <a:bodyPr wrap="square">
            <a:spAutoFit/>
          </a:bodyPr>
          <a:lstStyle/>
          <a:p>
            <a:pPr>
              <a:lnSpc>
                <a:spcPct val="150000"/>
              </a:lnSpc>
            </a:pPr>
            <a:r>
              <a:rPr lang="en-US" dirty="0">
                <a:latin typeface="Arial" panose="020B0604020202020204" pitchFamily="34" charset="0"/>
                <a:cs typeface="Arial" panose="020B0604020202020204" pitchFamily="34" charset="0"/>
              </a:rPr>
              <a:t>The project effectively implements a multi-disease prediction system using advanced machine learning models, allowing users to input health-related data and receive accurate predictions for conditions such as diabetes, heart disease, and Parkinson’s. In addition to disease prediction, the integration of a BMI tracker enhances the application's utility by offering users insights into their overall health and fitness. The platform is designed with an intuitive interface, making it accessible for all users, regardless of technical background. Looking ahead, the project has promising potential for future development, including the integration of more disease categories and continuous improvements in model performance and prediction accuracy.</a:t>
            </a:r>
          </a:p>
        </p:txBody>
      </p:sp>
    </p:spTree>
    <p:extLst>
      <p:ext uri="{BB962C8B-B14F-4D97-AF65-F5344CB8AC3E}">
        <p14:creationId xmlns:p14="http://schemas.microsoft.com/office/powerpoint/2010/main" val="1265849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FA3D9-5B38-A267-7691-582DAE68AEB0}"/>
              </a:ext>
            </a:extLst>
          </p:cNvPr>
          <p:cNvSpPr>
            <a:spLocks noGrp="1"/>
          </p:cNvSpPr>
          <p:nvPr>
            <p:ph type="title"/>
          </p:nvPr>
        </p:nvSpPr>
        <p:spPr/>
        <p:txBody>
          <a:bodyPr>
            <a:normAutofit/>
          </a:bodyPr>
          <a:lstStyle/>
          <a:p>
            <a:r>
              <a:rPr lang="en-IN" sz="3600" dirty="0"/>
              <a:t>REFERENCES</a:t>
            </a:r>
          </a:p>
        </p:txBody>
      </p:sp>
      <p:sp>
        <p:nvSpPr>
          <p:cNvPr id="3" name="Content Placeholder 2">
            <a:extLst>
              <a:ext uri="{FF2B5EF4-FFF2-40B4-BE49-F238E27FC236}">
                <a16:creationId xmlns:a16="http://schemas.microsoft.com/office/drawing/2014/main" id="{9BC309EE-F211-8F10-9087-6FE7260000F2}"/>
              </a:ext>
            </a:extLst>
          </p:cNvPr>
          <p:cNvSpPr>
            <a:spLocks noGrp="1"/>
          </p:cNvSpPr>
          <p:nvPr>
            <p:ph idx="1"/>
          </p:nvPr>
        </p:nvSpPr>
        <p:spPr>
          <a:xfrm>
            <a:off x="457200" y="1371600"/>
            <a:ext cx="8229600" cy="5105400"/>
          </a:xfrm>
        </p:spPr>
        <p:txBody>
          <a:bodyPr>
            <a:noAutofit/>
          </a:bodyPr>
          <a:lstStyle/>
          <a:p>
            <a:pPr marL="228600" lvl="0" indent="-228600" algn="just">
              <a:lnSpc>
                <a:spcPct val="150000"/>
              </a:lnSpc>
              <a:buAutoNum type="arabicPeriod"/>
            </a:pPr>
            <a:r>
              <a:rPr lang="en-IN" sz="1600" dirty="0">
                <a:latin typeface="Arial" panose="020B0604020202020204" pitchFamily="34" charset="0"/>
                <a:cs typeface="Arial" panose="020B0604020202020204" pitchFamily="34" charset="0"/>
              </a:rPr>
              <a:t>Chaurasia, V., &amp; Pal, S. (2014). Early Prediction of Heart Diseases Using Data Mining Techniques. Caribbean Journal of Science and Technology, 1(1), 208–217. </a:t>
            </a:r>
          </a:p>
          <a:p>
            <a:pPr marL="228600" lvl="0" indent="-228600" algn="just">
              <a:lnSpc>
                <a:spcPct val="150000"/>
              </a:lnSpc>
              <a:buAutoNum type="arabicPeriod"/>
            </a:pPr>
            <a:r>
              <a:rPr lang="en-IN" sz="1600" dirty="0">
                <a:latin typeface="Arial" panose="020B0604020202020204" pitchFamily="34" charset="0"/>
                <a:cs typeface="Arial" panose="020B0604020202020204" pitchFamily="34" charset="0"/>
              </a:rPr>
              <a:t>Dey, L., Ashour, A. S., &amp; Balas, V. E. (2016). Smart Medical Data Sensing and IoT Systems Design in Healthcare. Springer. </a:t>
            </a:r>
          </a:p>
          <a:p>
            <a:pPr marL="228600" lvl="0" indent="-228600" algn="just">
              <a:lnSpc>
                <a:spcPct val="150000"/>
              </a:lnSpc>
              <a:buAutoNum type="arabicPeriod"/>
            </a:pPr>
            <a:r>
              <a:rPr lang="en-IN" sz="1600" dirty="0">
                <a:latin typeface="Arial" panose="020B0604020202020204" pitchFamily="34" charset="0"/>
                <a:cs typeface="Arial" panose="020B0604020202020204" pitchFamily="34" charset="0"/>
              </a:rPr>
              <a:t>Islam, M. M., Mahmud, S., &amp; Kwak, D. (2020). A Systematic Review on Healthcare Analytics: Application and Thematic Analysis. Journal of Biomedical Informatics, 100, 103358. </a:t>
            </a:r>
          </a:p>
          <a:p>
            <a:pPr marL="228600" lvl="0" indent="-228600" algn="just">
              <a:lnSpc>
                <a:spcPct val="150000"/>
              </a:lnSpc>
              <a:buAutoNum type="arabicPeriod"/>
            </a:pPr>
            <a:r>
              <a:rPr lang="en-IN" sz="1600" dirty="0">
                <a:latin typeface="Arial" panose="020B0604020202020204" pitchFamily="34" charset="0"/>
                <a:cs typeface="Arial" panose="020B0604020202020204" pitchFamily="34" charset="0"/>
              </a:rPr>
              <a:t>Kumar, Y., Kaur, M., &amp; Arora, A. (2019). Multi-Disease Prediction Using Machine Learning Algorithms. International Journal of Scientific Research in Computer Science, Engineering and Information Technology, </a:t>
            </a:r>
          </a:p>
          <a:p>
            <a:pPr marL="228600" lvl="0" indent="-228600" algn="just">
              <a:lnSpc>
                <a:spcPct val="150000"/>
              </a:lnSpc>
              <a:buAutoNum type="arabicPeriod"/>
            </a:pPr>
            <a:endParaRPr lang="en-IN" sz="16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2B427FE9-29DA-0E49-B4DE-4727923C5DB0}"/>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B2B0431B-9CC5-946D-2E4D-E25A5A48B915}"/>
              </a:ext>
            </a:extLst>
          </p:cNvPr>
          <p:cNvSpPr>
            <a:spLocks noGrp="1"/>
          </p:cNvSpPr>
          <p:nvPr>
            <p:ph type="sldNum" sz="quarter" idx="12"/>
          </p:nvPr>
        </p:nvSpPr>
        <p:spPr/>
        <p:txBody>
          <a:bodyPr/>
          <a:lstStyle/>
          <a:p>
            <a:fld id="{7B28076C-CE04-4A00-BFAA-A90EA8355859}" type="slidenum">
              <a:rPr lang="en-US" smtClean="0"/>
              <a:pPr/>
              <a:t>21</a:t>
            </a:fld>
            <a:endParaRPr lang="en-US"/>
          </a:p>
        </p:txBody>
      </p:sp>
    </p:spTree>
    <p:extLst>
      <p:ext uri="{BB962C8B-B14F-4D97-AF65-F5344CB8AC3E}">
        <p14:creationId xmlns:p14="http://schemas.microsoft.com/office/powerpoint/2010/main" val="3811643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26 April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22</a:t>
            </a:fld>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6688</TotalTime>
  <Words>1226</Words>
  <Application>Microsoft Office PowerPoint</Application>
  <PresentationFormat>On-screen Show (4:3)</PresentationFormat>
  <Paragraphs>137</Paragraphs>
  <Slides>22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Wingdings</vt:lpstr>
      <vt:lpstr>Custom Design</vt:lpstr>
      <vt:lpstr>  </vt:lpstr>
      <vt:lpstr>AGENDA</vt:lpstr>
      <vt:lpstr>COURSE CERTIFICATE</vt:lpstr>
      <vt:lpstr>INTRODUCTION</vt:lpstr>
      <vt:lpstr>ABSTRACT</vt:lpstr>
      <vt:lpstr>OBJECTIVE</vt:lpstr>
      <vt:lpstr>LITERATURE SURVEY</vt:lpstr>
      <vt:lpstr>SYSTEM ARCHITECTURE / IDEATION MAP</vt:lpstr>
      <vt:lpstr>MODULE IMPLEMENTATION</vt:lpstr>
      <vt:lpstr>MODULE IMPLEMENTATION</vt:lpstr>
      <vt:lpstr>MODULE IMPLEMENTATION</vt:lpstr>
      <vt:lpstr>MODULE IMPLEMENTATION</vt:lpstr>
      <vt:lpstr>OUTPUT</vt:lpstr>
      <vt:lpstr>OUTPUT</vt:lpstr>
      <vt:lpstr>OUTPUT</vt:lpstr>
      <vt:lpstr>OUTPUT</vt:lpstr>
      <vt:lpstr>OUTPUT</vt:lpstr>
      <vt:lpstr>OUTPUT</vt:lpstr>
      <vt:lpstr>RESULTS AND DISCUSSIONS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Mohamed Afzal</cp:lastModifiedBy>
  <cp:revision>120</cp:revision>
  <dcterms:created xsi:type="dcterms:W3CDTF">2019-11-06T07:48:53Z</dcterms:created>
  <dcterms:modified xsi:type="dcterms:W3CDTF">2025-04-26T03:58:03Z</dcterms:modified>
</cp:coreProperties>
</file>